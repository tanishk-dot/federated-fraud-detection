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jb24/3oXfEol3mrTMEca2WFcY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5" Type="http://customschemas.google.com/relationships/presentationmetadata" Target="meta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85cdd00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785cdd00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3785cdd0013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g3785cdd00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85cdd001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785cdd0013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785cdd0013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5cdd001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785cdd001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785cdd0013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785cdd0013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785cdd0013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5cdd0013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785cdd001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5cdd0013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785cdd0013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5cdd001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785cdd001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5cdd0013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" name="Google Shape;169;g3785cdd001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5cdd0013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785cdd0013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5cdd0013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3785cdd001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sz="105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5cdd0013_0_0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2800"/>
            </a:pP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UE23CS441A 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–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</a:t>
            </a:r>
            <a:r>
              <a:rPr lang="en-US" sz="28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2800" b="0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</a:t>
            </a:r>
            <a:r>
              <a:rPr lang="en-US" sz="2800" b="0" i="0" u="none" strike="noStrike" cap="none" dirty="0" smtClean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</a:t>
            </a:r>
            <a:r>
              <a:rPr lang="en-US" sz="2800" b="0" i="0" u="none" strike="noStrike" cap="none" dirty="0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# 1</a:t>
            </a:r>
            <a:endParaRPr sz="2800" b="0" i="0" u="none" strike="noStrike" cap="none" dirty="0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g3785cdd0013_0_0"/>
          <p:cNvSpPr txBox="1"/>
          <p:nvPr/>
        </p:nvSpPr>
        <p:spPr>
          <a:xfrm>
            <a:off x="1828800" y="4419601"/>
            <a:ext cx="8458200" cy="13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Federated Fraud Detection using Temporal Graph Transformers with Differential Privacy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[Enter Project ID]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[Enter Project Guide Name]</a:t>
            </a: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[Enter Team Member Names]</a:t>
            </a:r>
            <a:endParaRPr sz="2000" b="0" i="0" u="none" strike="noStrike" cap="non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g3785cdd001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85cdd0013_0_8"/>
          <p:cNvSpPr txBox="1"/>
          <p:nvPr/>
        </p:nvSpPr>
        <p:spPr>
          <a:xfrm>
            <a:off x="1828800" y="1161650"/>
            <a:ext cx="85344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 Completed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Pipeline built and validated; inferences from the literature survey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 and Modules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 / Modules with Individual Contribution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Completed Modules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Timeline (Gantt Chart)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785cdd0013_0_8"/>
          <p:cNvSpPr txBox="1"/>
          <p:nvPr/>
        </p:nvSpPr>
        <p:spPr>
          <a:xfrm>
            <a:off x="4191000" y="69995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7" name="Google Shape;117;g3785cdd001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85cdd0013_0_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85cdd0013_0_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5cdd0013_0_18"/>
          <p:cNvSpPr txBox="1"/>
          <p:nvPr/>
        </p:nvSpPr>
        <p:spPr>
          <a:xfrm>
            <a:off x="2057400" y="1554480"/>
            <a:ext cx="80772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problem: fraud patterns often span banks, but raw transaction data can never be pooled between them.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Our approach: a Temporal Graph Transformer + contrastive learning model, trained via Federated Learning (FedAvg/FedProx) across 10 simulated banks, protected by client-level Differential Privacy.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 scope: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Real trained model + real FL/DP training loop (not illustrative)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Honest benchmark vs. RandomForest &amp; centralized-deep baselines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Full-stack live demo - FastAPI backend + React frontend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Documented out of scope: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Real PaySim data unavailable -&gt; schema-matched synthetic dataset used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Graph branch simplified (per-account, not multi-entity graph yet)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Homomorphic encryption / secure aggregation: reference code, not wired into training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785cdd0013_0_18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85cdd0013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85cdd0013_0_1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Federated Fraud Detection using Temporal Graph Transformers with Differential Privacy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85cdd0013_0_1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/>
          <p:cNvSpPr txBox="1"/>
          <p:nvPr/>
        </p:nvSpPr>
        <p:spPr>
          <a:xfrm>
            <a:off x="2057400" y="1554480"/>
            <a:ext cx="90678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Implemented the full model: temporal Transformer + graph branch + cross-modal fusion + dual heads (BCE + contrastive).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Built the Federated Learning + client-level Differential Privacy training loop across 10 simulated bank clients.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Found &amp; fixed 3 real bugs via critical self-review: unrealistic synthetic data, an over-parameterized/collapsing model, and a NaN-masking bug hiding a training failure.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Validated with a real 4-model comparison and a full 9-point epsilon-vs-utility sweep - not fabricated numbers.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Built a full-stack live demo: FastAPI backend + React frontend, real inference and real live training from the browser.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Key inferences from the literature survey: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Non-IID bank data -&gt; FedProx's proximal term over plain FedAvg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Naive DP composition silently blows the privacy budget -&gt; client-level DP-FedAvg (McMahan et al., 2018)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DP noise scales with sqrt(parameters) -&gt; model right-sizing is a DP prerequisite, not just a modeling nicety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785cdd0013_0_28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 Done in Capstone Project Phase - 1</a:t>
            </a:r>
            <a:endParaRPr sz="2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g3785cdd0013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85cdd0013_0_2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Federated Fraud Detection using Temporal Graph Transformers with Differential Privacy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85cdd0013_0_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85cdd0013_0_38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785cdd0013_0_38"/>
          <p:cNvSpPr txBox="1"/>
          <p:nvPr/>
        </p:nvSpPr>
        <p:spPr>
          <a:xfrm>
            <a:off x="1562100" y="1371600"/>
            <a:ext cx="9067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Raw data never leaves a client - only clipped, noised updates are ever aggregated.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785cdd0013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85cdd0013_0_3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85cdd0013_0_3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548640" y="178308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3987E5"/>
          </a:solidFill>
          <a:ln w="9525">
            <a:solidFill>
              <a:srgbClr val="398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4F0"/>
                </a:solidFill>
                <a:latin typeface="Trebuchet MS"/>
              </a:rPr>
              <a:t>10 Simulated Banks
(non-IID transaction data)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343400" y="178308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3987E5"/>
          </a:solidFill>
          <a:ln w="9525">
            <a:solidFill>
              <a:srgbClr val="398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4F0"/>
                </a:solidFill>
                <a:latin typeface="Trebuchet MS"/>
              </a:rPr>
              <a:t>Local Training
Temporal Graph Transformer
+ Contrastive Head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138160" y="178308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9085E9"/>
          </a:solidFill>
          <a:ln w="9525">
            <a:solidFill>
              <a:srgbClr val="908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4F0"/>
                </a:solidFill>
                <a:latin typeface="Trebuchet MS"/>
              </a:rPr>
              <a:t>Client-Level DP
Clip + Gaussian Noise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6080759" y="2743200"/>
            <a:ext cx="0" cy="320040"/>
          </a:xfrm>
          <a:prstGeom prst="line">
            <a:avLst/>
          </a:prstGeom>
          <a:ln w="25400">
            <a:solidFill>
              <a:srgbClr val="8B8A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6217920" y="276148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B8A83"/>
                </a:solidFill>
                <a:latin typeface="Trebuchet MS"/>
              </a:rPr>
              <a:t>repeated every FL round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48640" y="3063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99E70"/>
          </a:solidFill>
          <a:ln w="9525">
            <a:solidFill>
              <a:srgbClr val="199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5F4F0"/>
                </a:solidFill>
                <a:latin typeface="Trebuchet MS"/>
              </a:rPr>
              <a:t>Server: FedProx Weighted Aggregation of Clipped + Noised Updates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6080759" y="3840480"/>
            <a:ext cx="0" cy="320040"/>
          </a:xfrm>
          <a:prstGeom prst="line">
            <a:avLst/>
          </a:prstGeom>
          <a:ln w="25400">
            <a:solidFill>
              <a:srgbClr val="8B8A8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/>
          <p:cNvSpPr/>
          <p:nvPr/>
        </p:nvSpPr>
        <p:spPr>
          <a:xfrm>
            <a:off x="548640" y="416052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1A1A19"/>
          </a:solidFill>
          <a:ln w="9525">
            <a:solidFill>
              <a:srgbClr val="1A1A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4F0"/>
                </a:solidFill>
                <a:latin typeface="Trebuchet MS"/>
              </a:rPr>
              <a:t>Updated Global Model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263640" y="4160520"/>
            <a:ext cx="5349240" cy="960120"/>
          </a:xfrm>
          <a:prstGeom prst="roundRect">
            <a:avLst>
              <a:gd name="adj" fmla="val 8000"/>
            </a:avLst>
          </a:prstGeom>
          <a:solidFill>
            <a:srgbClr val="1A1A19"/>
          </a:solidFill>
          <a:ln w="9525">
            <a:solidFill>
              <a:srgbClr val="1A1A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5F4F0"/>
                </a:solidFill>
                <a:latin typeface="Trebuchet MS"/>
              </a:rPr>
              <a:t>Real-Time Inference API
(FastAPI backend)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85cdd0013_0_47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785cdd0013_0_47"/>
          <p:cNvSpPr txBox="1"/>
          <p:nvPr/>
        </p:nvSpPr>
        <p:spPr>
          <a:xfrm>
            <a:off x="1563675" y="1188720"/>
            <a:ext cx="9582300" cy="516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Generation &amp; Feature Engineering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Schema-matched synthetic PaySim-style generator (overlapping fraud/legit distributions + 12% quiet fraud)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10-dim normalized features per transaction; last-10-transaction sequences per account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Model Architecture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Temporal Transformer (4 layers) + graph branch + cross-modal fusion + dual heads (BCE + contrastive)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Federated Learning Engine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FedAvg / FedProx orchestration across 10 simulated bank clients, non-IID aware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Differential Privacy Layer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Client-level DP-FedAvg: per-round update clipping + Gaussian noise, configurable (epsilon, delta)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&amp; Benchmarking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Shared held-out test harness; 4-model comparison suite; epsilon-vs-utility sweep tool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Backend API &amp; Frontend Dashboard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FastAPI (real checkpoint, live training jobs) + React/TypeScript/Tailwind/Recharts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Tools &amp; Technologies (all open-source)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PyTorch, NumPy/Pandas, FastAPI, Flower, React, Vite, TailwindCSS, Git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785cdd0013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85cdd0013_0_4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Federated Fraud Detection using Temporal Graph Transformers with Differential Privacy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85cdd0013_0_4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5cdd0013_0_56"/>
          <p:cNvSpPr txBox="1"/>
          <p:nvPr/>
        </p:nvSpPr>
        <p:spPr>
          <a:xfrm>
            <a:off x="3351475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Individual Contribution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g3785cdd0013_0_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85cdd0013_0_5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85cdd0013_0_5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548640" y="1600200"/>
          <a:ext cx="667511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3383279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4F0"/>
                          </a:solidFill>
                          <a:latin typeface="Trebuchet MS"/>
                        </a:rPr>
                        <a:t>Team Member</a:t>
                      </a:r>
                    </a:p>
                  </a:txBody>
                  <a:tcPr anchor="ctr" marL="73152" marR="73152"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4F0"/>
                          </a:solidFill>
                          <a:latin typeface="Trebuchet MS"/>
                        </a:rPr>
                        <a:t>Module(s)</a:t>
                      </a:r>
                    </a:p>
                  </a:txBody>
                  <a:tcPr anchor="ctr" marL="73152" marR="73152">
                    <a:solidFill>
                      <a:srgbClr val="3987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5F4F0"/>
                          </a:solidFill>
                          <a:latin typeface="Trebuchet MS"/>
                        </a:rPr>
                        <a:t>Key Contribution</a:t>
                      </a:r>
                    </a:p>
                  </a:txBody>
                  <a:tcPr anchor="ctr" marL="73152" marR="73152">
                    <a:solidFill>
                      <a:srgbClr val="3987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[Member 1]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Data Pipeline &amp; Features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Synthetic data generator, feature engineering, sequence construction</a:t>
                      </a:r>
                    </a:p>
                  </a:txBody>
                  <a:tcPr anchor="ctr" marL="73152" marR="73152"/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[Member 2]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Model &amp; FL/DP Training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Temporal Graph Transformer, FedAvg/FedProx loop, DP-FedAvg mechanism</a:t>
                      </a:r>
                    </a:p>
                  </a:txBody>
                  <a:tcPr anchor="ctr" marL="73152" marR="73152"/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[Member 3]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Backend &amp; Evaluation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FastAPI service, model comparison suite, epsilon-utility sweep</a:t>
                      </a:r>
                    </a:p>
                  </a:txBody>
                  <a:tcPr anchor="ctr" marL="73152" marR="73152"/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[Member 4]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Frontend &amp; Integration</a:t>
                      </a:r>
                    </a:p>
                  </a:txBody>
                  <a:tcPr anchor="ctr" marL="73152" marR="7315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Trebuchet MS"/>
                        </a:rPr>
                        <a:t>React dashboard, live inference/training UI</a:t>
                      </a:r>
                    </a:p>
                  </a:txBody>
                  <a:tcPr anchor="ctr" marL="73152" marR="73152"/>
                </a:tc>
              </a:tr>
            </a:tbl>
          </a:graphicData>
        </a:graphic>
      </p:graphicFrame>
      <p:sp>
        <p:nvSpPr>
          <p:cNvPr id="168" name="TextBox 167"/>
          <p:cNvSpPr txBox="1"/>
          <p:nvPr/>
        </p:nvSpPr>
        <p:spPr>
          <a:xfrm>
            <a:off x="548640" y="438912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8B8A83"/>
                </a:solidFill>
                <a:latin typeface="Trebuchet MS"/>
              </a:rPr>
              <a:t>Fill in team member names + individual lines-of-code/time-spent once finalized.</a:t>
            </a:r>
          </a:p>
        </p:txBody>
      </p:sp>
      <p:pic>
        <p:nvPicPr>
          <p:cNvPr id="169" name="Picture 168" descr="gantt_phase3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600200"/>
            <a:ext cx="4206240" cy="2218413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7498079" y="3864333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8B8A83"/>
                </a:solidFill>
                <a:latin typeface="Trebuchet MS"/>
              </a:rPr>
              <a:t>Planned roadmap, Phase 3-4 (Gantt chart)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1828800" y="1554480"/>
            <a:ext cx="906780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Live single-transaction scoring: manual input -&gt; real model inference -&gt; fraud probability + anomaly score.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CSV batch upload: any schema, automatic column-mapping suggestion, live per-row predictions (disclosed sampling cap on very large files).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Live federated training from the browser: a real FedProx + DP-FedAvg run, with live per-round accuracy/F1/ROC-AUC charting.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Testing performed: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All models evaluated on one identical held-out test set (6,000 sequences, 362 fraud) for a fair comparison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Verified the DP mechanism's real effect via a 9-point epsilon sweep (destroyed at low epsilon, recovers by epsilon ~20-50)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Verified no representation collapse via before/after internal-feature diagnostics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2991" marR="0" lvl="1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Load-tested CSV inference on 200K+ row files after finding &amp; fixing a real request-handling bug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785cdd0013_0_65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Federated Fraud Detection using Temporal Graph Transformers with Differential Privacy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85cdd0013_0_6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5cdd0013_0_74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785cdd0013_0_74"/>
          <p:cNvSpPr txBox="1"/>
          <p:nvPr/>
        </p:nvSpPr>
        <p:spPr>
          <a:xfrm>
            <a:off x="2133601" y="1905001"/>
            <a:ext cx="88392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[1] H. B. McMahan, E. Moore, D. Ramage, S. Hampson, and B. A. y Arcas, "Communication-Efficient Learning of Deep Networks from Decentralized Data," AISTATS, 2017.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[2] T. Li, A. K. Sahu, M. Zaheer, M. Sanjabi, A. Talwalkar, and V. Smith, "Federated Optimization in Heterogeneous Networks," MLSys, 2020.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[3] H. B. McMahan, D. Ramage, K. Talwar, and L. Zhang, "Learning Differentially Private Recurrent Language Models," ICLR, 2018.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[4] C. Dwork and A. Roth, "The Algorithmic Foundations of Differential Privacy," Foundations and Trends in Theoretical Computer Science, 2014.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[5] M. Abadi et al., "Deep Learning with Differential Privacy," ACM CCS, 2016.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[6] K. Bonawitz et al., "Practical Secure Aggregation for Privacy-Preserving Machine Learning," ACM CCS, 2017.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[7] P. Paillier, "Public-Key Cryptosystems Based on Composite Degree Residuosity Classes," EUROCRYPT, 1999.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791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[8] E. A. Lopez-Rojas, A. Elmir, and S. Ahmed, "PaySim: A Financial Mobile Money Simulator for Fraud Detection," 28th European Modeling and Simulation Symposium, 2016.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785cdd0013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85cdd0013_0_74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Federated Fraud Detection using Temporal Graph Transformers with Differential Privacy</a:t>
            </a:r>
            <a:endParaRPr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85cdd0013_0_7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14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336</Words>
  <Application>Microsoft Office PowerPoint</Application>
  <PresentationFormat>Widescreen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Noto Sans Symbols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Admin</cp:lastModifiedBy>
  <cp:revision>2</cp:revision>
  <dcterms:created xsi:type="dcterms:W3CDTF">2023-02-02T07:40:50Z</dcterms:created>
  <dcterms:modified xsi:type="dcterms:W3CDTF">2026-08-17T08:47:50Z</dcterms:modified>
</cp:coreProperties>
</file>